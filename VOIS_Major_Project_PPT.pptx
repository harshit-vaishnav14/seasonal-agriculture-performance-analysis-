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40" r:id="rId10"/>
    <p:sldId id="344" r:id="rId11"/>
    <p:sldId id="345" r:id="rId12"/>
    <p:sldId id="339"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11" d="100"/>
          <a:sy n="111" d="100"/>
        </p:scale>
        <p:origin x="474" y="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Harshit-Vaishnav14/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57406" y="3655809"/>
            <a:ext cx="4356925" cy="861497"/>
          </a:xfrm>
        </p:spPr>
        <p:txBody>
          <a:bodyPr vert="horz" lIns="91440" tIns="45720" rIns="91440" bIns="45720" rtlCol="0" anchor="t">
            <a:normAutofit fontScale="92500"/>
          </a:bodyPr>
          <a:lstStyle/>
          <a:p>
            <a:r>
              <a:rPr lang="en-US" b="0" dirty="0">
                <a:solidFill>
                  <a:schemeClr val="tx1"/>
                </a:solidFill>
              </a:rPr>
              <a:t>Harshit Vaishnav</a:t>
            </a:r>
          </a:p>
          <a:p>
            <a:r>
              <a:rPr lang="en-US" b="0" dirty="0">
                <a:solidFill>
                  <a:schemeClr val="tx1"/>
                </a:solidFill>
              </a:rPr>
              <a:t>Lucky Institute of Professional Studies</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8017062" cy="743448"/>
          </a:xfrm>
        </p:spPr>
        <p:txBody>
          <a:bodyPr>
            <a:normAutofit fontScale="90000"/>
          </a:bodyPr>
          <a:lstStyle/>
          <a:p>
            <a:r>
              <a:rPr lang="en-IN" sz="3200" b="1" dirty="0"/>
              <a:t>Seasonal Agriculture Performance Analysis</a:t>
            </a:r>
            <a:r>
              <a:rPr lang="en-IN" sz="3200" dirty="0"/>
              <a:t>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598670" cy="369332"/>
          </a:xfrm>
          <a:prstGeom prst="rect">
            <a:avLst/>
          </a:prstGeom>
          <a:noFill/>
        </p:spPr>
        <p:txBody>
          <a:bodyPr wrap="square" rtlCol="0">
            <a:spAutoFit/>
          </a:bodyPr>
          <a:lstStyle/>
          <a:p>
            <a:r>
              <a:rPr lang="en-US" b="1" dirty="0"/>
              <a:t>AICTE STU ID : </a:t>
            </a:r>
            <a:r>
              <a:rPr lang="en-IN" b="1" dirty="0"/>
              <a:t>STU6a6c786a16f231785493610</a:t>
            </a:r>
            <a:endParaRPr lang="en-US" b="1" dirty="0"/>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6" y="2102230"/>
            <a:ext cx="7074249" cy="3607987"/>
          </a:xfrm>
        </p:spPr>
        <p:txBody>
          <a:bodyPr vert="horz" lIns="91440" tIns="45720" rIns="91440" bIns="45720" rtlCol="0" anchor="t">
            <a:normAutofit fontScale="70000" lnSpcReduction="20000"/>
          </a:bodyPr>
          <a:lstStyle/>
          <a:p>
            <a:pPr algn="just">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02F27E12-3CD3-657E-24C9-422C860C6CB2}"/>
              </a:ext>
            </a:extLst>
          </p:cNvPr>
          <p:cNvSpPr txBox="1"/>
          <p:nvPr/>
        </p:nvSpPr>
        <p:spPr>
          <a:xfrm>
            <a:off x="660399" y="2299515"/>
            <a:ext cx="7882117" cy="2862322"/>
          </a:xfrm>
          <a:prstGeom prst="rect">
            <a:avLst/>
          </a:prstGeom>
          <a:noFill/>
        </p:spPr>
        <p:txBody>
          <a:bodyPr wrap="square" rtlCol="0">
            <a:spAutoFit/>
          </a:bodyPr>
          <a:lstStyle/>
          <a:p>
            <a:pPr algn="just"/>
            <a:r>
              <a:rPr lang="en-IN" dirty="0"/>
              <a:t>This project is about understanding how agriculture performs in different seasons. We </a:t>
            </a:r>
            <a:r>
              <a:rPr lang="en-IN" dirty="0" err="1"/>
              <a:t>analyzed</a:t>
            </a:r>
            <a:r>
              <a:rPr lang="en-IN" dirty="0"/>
              <a:t> the given agricultural data to compare </a:t>
            </a:r>
            <a:r>
              <a:rPr lang="en-IN" b="1" dirty="0"/>
              <a:t>crop yield, production, water usage, environmental conditions and profit</a:t>
            </a:r>
            <a:r>
              <a:rPr lang="en-IN" dirty="0"/>
              <a:t> across seasons.</a:t>
            </a:r>
          </a:p>
          <a:p>
            <a:pPr algn="just"/>
            <a:endParaRPr lang="en-IN" dirty="0"/>
          </a:p>
          <a:p>
            <a:pPr algn="just"/>
            <a:r>
              <a:rPr lang="en-IN" dirty="0"/>
              <a:t>We also looked at differences between </a:t>
            </a:r>
            <a:r>
              <a:rPr lang="en-IN" b="1" dirty="0"/>
              <a:t>crops, irrigation methods and states</a:t>
            </a:r>
            <a:r>
              <a:rPr lang="en-IN" dirty="0"/>
              <a:t> to find useful patterns in the data. Finally we used graphs and statistical analysis to identify important findings and give </a:t>
            </a:r>
            <a:r>
              <a:rPr lang="en-IN" b="1" dirty="0"/>
              <a:t>practical, data based recommendations for better agricultural planning</a:t>
            </a:r>
            <a:r>
              <a:rPr lang="en-IN" dirty="0"/>
              <a:t>.</a:t>
            </a:r>
          </a:p>
          <a:p>
            <a:endParaRPr lang="en-IN" dirty="0"/>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40205" y="2186781"/>
            <a:ext cx="7904481" cy="3990023"/>
          </a:xfrm>
        </p:spPr>
        <p:txBody>
          <a:bodyPr>
            <a:normAutofit/>
          </a:bodyPr>
          <a:lstStyle/>
          <a:p>
            <a:pPr lvl="0" algn="just"/>
            <a:r>
              <a:rPr lang="en-IN" b="1" dirty="0"/>
              <a:t>Farmers</a:t>
            </a:r>
            <a:r>
              <a:rPr lang="en-IN" dirty="0"/>
              <a:t> : to understand seasonal crop performance and resource usage. </a:t>
            </a:r>
          </a:p>
          <a:p>
            <a:pPr lvl="0" algn="just"/>
            <a:r>
              <a:rPr lang="en-IN" b="1" dirty="0"/>
              <a:t>Agricultural Planners</a:t>
            </a:r>
            <a:r>
              <a:rPr lang="en-IN" dirty="0"/>
              <a:t> : to support better seasonal planning and decision-making. </a:t>
            </a:r>
          </a:p>
          <a:p>
            <a:pPr lvl="0" algn="just"/>
            <a:r>
              <a:rPr lang="en-IN" b="1" dirty="0"/>
              <a:t>Government and Agriculture Departments</a:t>
            </a:r>
            <a:r>
              <a:rPr lang="en-IN" dirty="0"/>
              <a:t> : to understand regional and seasonal agricultural patterns. </a:t>
            </a:r>
          </a:p>
          <a:p>
            <a:pPr lvl="0" algn="just"/>
            <a:r>
              <a:rPr lang="en-IN" b="1" dirty="0"/>
              <a:t>Agricultural Researchers</a:t>
            </a:r>
            <a:r>
              <a:rPr lang="en-IN" dirty="0"/>
              <a:t> : to study trends and relationships in agricultural data. </a:t>
            </a:r>
          </a:p>
          <a:p>
            <a:pPr lvl="0" algn="just"/>
            <a:r>
              <a:rPr lang="en-IN" b="1" dirty="0"/>
              <a:t>Data Analysts</a:t>
            </a:r>
            <a:r>
              <a:rPr lang="en-IN" dirty="0"/>
              <a:t> : to </a:t>
            </a:r>
            <a:r>
              <a:rPr lang="en-IN" dirty="0" err="1"/>
              <a:t>analyze</a:t>
            </a:r>
            <a:r>
              <a:rPr lang="en-IN" dirty="0"/>
              <a:t> agricultural performance and generate data-driven insights.</a:t>
            </a:r>
          </a:p>
          <a:p>
            <a:pPr algn="just">
              <a:lnSpc>
                <a:spcPct val="150000"/>
              </a:lnSpc>
            </a:pP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4703333"/>
            <a:ext cx="1236383" cy="2154667"/>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22271" y="1488344"/>
            <a:ext cx="9027702" cy="3881312"/>
          </a:xfrm>
        </p:spPr>
        <p:txBody>
          <a:bodyPr/>
          <a:lstStyle/>
          <a:p>
            <a:pPr lvl="0" algn="just"/>
            <a:r>
              <a:rPr lang="en-IN" b="1" dirty="0"/>
              <a:t>Python</a:t>
            </a:r>
            <a:r>
              <a:rPr lang="en-IN" dirty="0"/>
              <a:t> : Main programming language for data analysis </a:t>
            </a:r>
          </a:p>
          <a:p>
            <a:pPr lvl="0" algn="just"/>
            <a:r>
              <a:rPr lang="en-IN" b="1" dirty="0"/>
              <a:t>Jupyter Notebook</a:t>
            </a:r>
            <a:r>
              <a:rPr lang="en-IN" dirty="0"/>
              <a:t> : Used to write and execute the analysis </a:t>
            </a:r>
          </a:p>
          <a:p>
            <a:pPr lvl="0" algn="just"/>
            <a:r>
              <a:rPr lang="en-IN" b="1" dirty="0"/>
              <a:t>Pandas</a:t>
            </a:r>
            <a:r>
              <a:rPr lang="en-IN" dirty="0"/>
              <a:t> : Data cleaning, manipulation and analysis </a:t>
            </a:r>
          </a:p>
          <a:p>
            <a:pPr lvl="0" algn="just"/>
            <a:r>
              <a:rPr lang="en-IN" b="1" dirty="0"/>
              <a:t>NumPy</a:t>
            </a:r>
            <a:r>
              <a:rPr lang="en-IN" dirty="0"/>
              <a:t> : Numerical calculations </a:t>
            </a:r>
          </a:p>
          <a:p>
            <a:pPr lvl="0" algn="just"/>
            <a:r>
              <a:rPr lang="en-IN" b="1" dirty="0"/>
              <a:t>Matplotlib</a:t>
            </a:r>
            <a:r>
              <a:rPr lang="en-IN" dirty="0"/>
              <a:t> : Creating data visualizations </a:t>
            </a:r>
          </a:p>
          <a:p>
            <a:pPr lvl="0" algn="just"/>
            <a:r>
              <a:rPr lang="en-IN" b="1" dirty="0"/>
              <a:t>Seaborn</a:t>
            </a:r>
            <a:r>
              <a:rPr lang="en-IN" dirty="0"/>
              <a:t> : Creating statistical graphs and charts</a:t>
            </a:r>
          </a:p>
          <a:p>
            <a:pPr lvl="1" algn="just">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266825"/>
            <a:ext cx="5655832"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 Placeholder 10">
            <a:extLst>
              <a:ext uri="{FF2B5EF4-FFF2-40B4-BE49-F238E27FC236}">
                <a16:creationId xmlns:a16="http://schemas.microsoft.com/office/drawing/2014/main" id="{681630DD-4E27-F667-FC87-DFE6D489F9EF}"/>
              </a:ext>
            </a:extLst>
          </p:cNvPr>
          <p:cNvSpPr>
            <a:spLocks noGrp="1"/>
          </p:cNvSpPr>
          <p:nvPr>
            <p:ph type="body" sz="quarter" idx="12"/>
          </p:nvPr>
        </p:nvSpPr>
        <p:spPr>
          <a:xfrm>
            <a:off x="469156" y="4485975"/>
            <a:ext cx="8140005" cy="2178986"/>
          </a:xfrm>
        </p:spPr>
        <p:txBody>
          <a:bodyPr>
            <a:normAutofit/>
          </a:bodyPr>
          <a:lstStyle/>
          <a:p>
            <a:pPr lvl="0"/>
            <a:r>
              <a:rPr lang="en-IN" sz="1800" b="1" dirty="0"/>
              <a:t>Kharif</a:t>
            </a:r>
            <a:r>
              <a:rPr lang="en-IN" sz="1800" dirty="0"/>
              <a:t> records the highest average yield at </a:t>
            </a:r>
            <a:r>
              <a:rPr lang="en-IN" sz="1800" b="1" dirty="0"/>
              <a:t>5.63 t/ha</a:t>
            </a:r>
            <a:r>
              <a:rPr lang="en-IN" sz="1800" dirty="0"/>
              <a:t>, followed by </a:t>
            </a:r>
            <a:r>
              <a:rPr lang="en-IN" sz="1800" b="1" dirty="0"/>
              <a:t>Rabi (5.04 t/ha)</a:t>
            </a:r>
            <a:r>
              <a:rPr lang="en-IN" sz="1800" dirty="0"/>
              <a:t> and </a:t>
            </a:r>
            <a:r>
              <a:rPr lang="en-IN" sz="1800" b="1" dirty="0"/>
              <a:t>Zaid (4.64 t/ha)</a:t>
            </a:r>
            <a:r>
              <a:rPr lang="en-IN" sz="1800" dirty="0"/>
              <a:t>. </a:t>
            </a:r>
          </a:p>
          <a:p>
            <a:pPr lvl="0"/>
            <a:r>
              <a:rPr lang="en-IN" sz="1800" dirty="0"/>
              <a:t>Although Kharif has the highest average yield, the </a:t>
            </a:r>
            <a:r>
              <a:rPr lang="en-IN" sz="1800" b="1" dirty="0"/>
              <a:t>one-way ANOVA is not statistically significant</a:t>
            </a:r>
            <a:r>
              <a:rPr lang="en-IN" sz="1800" dirty="0"/>
              <a:t> (</a:t>
            </a:r>
            <a:r>
              <a:rPr lang="en-IN" sz="1800" b="1" dirty="0"/>
              <a:t>F = 1.554, p = 0.2116</a:t>
            </a:r>
            <a:r>
              <a:rPr lang="en-IN" sz="1800" dirty="0"/>
              <a:t>). </a:t>
            </a:r>
          </a:p>
          <a:p>
            <a:pPr lvl="0"/>
            <a:r>
              <a:rPr lang="en-IN" sz="1800" dirty="0"/>
              <a:t>Therefore, the observed difference in average yield across seasons </a:t>
            </a:r>
            <a:r>
              <a:rPr lang="en-IN" sz="1800" b="1" dirty="0"/>
              <a:t>cannot be considered statistically significant</a:t>
            </a:r>
            <a:r>
              <a:rPr lang="en-IN" sz="1800" dirty="0"/>
              <a:t>.</a:t>
            </a:r>
          </a:p>
        </p:txBody>
      </p:sp>
      <p:sp>
        <p:nvSpPr>
          <p:cNvPr id="12" name="TextBox 11">
            <a:extLst>
              <a:ext uri="{FF2B5EF4-FFF2-40B4-BE49-F238E27FC236}">
                <a16:creationId xmlns:a16="http://schemas.microsoft.com/office/drawing/2014/main" id="{7CE35B60-6740-5F31-70D8-410459F9DC6D}"/>
              </a:ext>
            </a:extLst>
          </p:cNvPr>
          <p:cNvSpPr txBox="1"/>
          <p:nvPr/>
        </p:nvSpPr>
        <p:spPr>
          <a:xfrm>
            <a:off x="696393" y="1090705"/>
            <a:ext cx="3308726" cy="369332"/>
          </a:xfrm>
          <a:prstGeom prst="rect">
            <a:avLst/>
          </a:prstGeom>
          <a:noFill/>
        </p:spPr>
        <p:txBody>
          <a:bodyPr wrap="none" rtlCol="0">
            <a:spAutoFit/>
          </a:bodyPr>
          <a:lstStyle/>
          <a:p>
            <a:r>
              <a:rPr lang="en-IN" b="1" dirty="0">
                <a:solidFill>
                  <a:srgbClr val="FF0000"/>
                </a:solidFill>
              </a:rPr>
              <a:t>Yield Performance by Season</a:t>
            </a:r>
          </a:p>
        </p:txBody>
      </p:sp>
      <p:pic>
        <p:nvPicPr>
          <p:cNvPr id="14" name="Picture 13">
            <a:extLst>
              <a:ext uri="{FF2B5EF4-FFF2-40B4-BE49-F238E27FC236}">
                <a16:creationId xmlns:a16="http://schemas.microsoft.com/office/drawing/2014/main" id="{2BCE4B42-4246-7528-3EB8-646826E8A8AB}"/>
              </a:ext>
            </a:extLst>
          </p:cNvPr>
          <p:cNvPicPr>
            <a:picLocks noChangeAspect="1"/>
          </p:cNvPicPr>
          <p:nvPr/>
        </p:nvPicPr>
        <p:blipFill>
          <a:blip r:embed="rId3"/>
          <a:stretch>
            <a:fillRect/>
          </a:stretch>
        </p:blipFill>
        <p:spPr>
          <a:xfrm>
            <a:off x="469157" y="1476564"/>
            <a:ext cx="8476436" cy="2976225"/>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82900" y="119108"/>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b="1"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b="1" dirty="0"/>
          </a:p>
        </p:txBody>
      </p:sp>
      <p:sp>
        <p:nvSpPr>
          <p:cNvPr id="9" name="Text Placeholder 8">
            <a:extLst>
              <a:ext uri="{FF2B5EF4-FFF2-40B4-BE49-F238E27FC236}">
                <a16:creationId xmlns:a16="http://schemas.microsoft.com/office/drawing/2014/main" id="{A2A3396E-F4CB-8A1A-58B5-EE3B4E5CF650}"/>
              </a:ext>
            </a:extLst>
          </p:cNvPr>
          <p:cNvSpPr>
            <a:spLocks noGrp="1"/>
          </p:cNvSpPr>
          <p:nvPr>
            <p:ph type="body" sz="quarter" idx="12"/>
          </p:nvPr>
        </p:nvSpPr>
        <p:spPr>
          <a:xfrm>
            <a:off x="362095" y="4093913"/>
            <a:ext cx="8385090" cy="3393815"/>
          </a:xfrm>
        </p:spPr>
        <p:txBody>
          <a:bodyPr>
            <a:normAutofit/>
          </a:bodyPr>
          <a:lstStyle/>
          <a:p>
            <a:pPr algn="just"/>
            <a:r>
              <a:rPr lang="en-IN" sz="1800" b="1" dirty="0"/>
              <a:t>Kharif</a:t>
            </a:r>
            <a:r>
              <a:rPr lang="en-IN" sz="1800" dirty="0"/>
              <a:t> has the highest average profit of </a:t>
            </a:r>
            <a:r>
              <a:rPr lang="en-IN" sz="1800" b="1" dirty="0"/>
              <a:t>₹1,78,915</a:t>
            </a:r>
            <a:r>
              <a:rPr lang="en-IN" sz="1800" dirty="0"/>
              <a:t>, followed by </a:t>
            </a:r>
            <a:r>
              <a:rPr lang="en-IN" sz="1800" b="1" dirty="0"/>
              <a:t>Rabi (₹87,690)</a:t>
            </a:r>
            <a:r>
              <a:rPr lang="en-IN" sz="1800" dirty="0"/>
              <a:t>. </a:t>
            </a:r>
          </a:p>
          <a:p>
            <a:pPr algn="just"/>
            <a:r>
              <a:rPr lang="en-IN" sz="1800" b="1" dirty="0"/>
              <a:t>Zaid records an average loss of ₹24,805</a:t>
            </a:r>
            <a:r>
              <a:rPr lang="en-IN" sz="1800" dirty="0"/>
              <a:t>, making it the weakest season economically. </a:t>
            </a:r>
          </a:p>
          <a:p>
            <a:pPr algn="just"/>
            <a:r>
              <a:rPr lang="en-IN" sz="1800" dirty="0"/>
              <a:t>Average revenue is highest in Kharif (</a:t>
            </a:r>
            <a:r>
              <a:rPr lang="en-IN" sz="1800" b="1" dirty="0"/>
              <a:t>₹7,10,719</a:t>
            </a:r>
            <a:r>
              <a:rPr lang="en-IN" sz="1800" dirty="0"/>
              <a:t>) and lowest in Zaid (</a:t>
            </a:r>
            <a:r>
              <a:rPr lang="en-IN" sz="1800" b="1" dirty="0"/>
              <a:t>₹5,19,172</a:t>
            </a:r>
            <a:r>
              <a:rPr lang="en-IN" sz="1800" dirty="0"/>
              <a:t>). </a:t>
            </a:r>
          </a:p>
          <a:p>
            <a:pPr algn="just"/>
            <a:r>
              <a:rPr lang="en-IN" sz="1800" dirty="0"/>
              <a:t>ANOVA shows that the difference in profit across seasons is </a:t>
            </a:r>
            <a:r>
              <a:rPr lang="en-IN" sz="1800" b="1" dirty="0"/>
              <a:t>statistically significant</a:t>
            </a:r>
            <a:r>
              <a:rPr lang="en-IN" sz="1800" dirty="0"/>
              <a:t> (</a:t>
            </a:r>
            <a:r>
              <a:rPr lang="en-IN" sz="1800" b="1" dirty="0"/>
              <a:t>F = 34.292, p &lt; 0.001</a:t>
            </a:r>
            <a:r>
              <a:rPr lang="en-IN" sz="1800" dirty="0"/>
              <a:t>).</a:t>
            </a:r>
          </a:p>
          <a:p>
            <a:pPr algn="just"/>
            <a:endParaRPr lang="en-IN" sz="1800" b="1" dirty="0"/>
          </a:p>
        </p:txBody>
      </p:sp>
      <p:sp>
        <p:nvSpPr>
          <p:cNvPr id="11" name="TextBox 10">
            <a:extLst>
              <a:ext uri="{FF2B5EF4-FFF2-40B4-BE49-F238E27FC236}">
                <a16:creationId xmlns:a16="http://schemas.microsoft.com/office/drawing/2014/main" id="{AF0165A1-51EB-6E1C-A5A3-64543842909C}"/>
              </a:ext>
            </a:extLst>
          </p:cNvPr>
          <p:cNvSpPr txBox="1"/>
          <p:nvPr/>
        </p:nvSpPr>
        <p:spPr>
          <a:xfrm>
            <a:off x="682900" y="928072"/>
            <a:ext cx="3804631" cy="369332"/>
          </a:xfrm>
          <a:prstGeom prst="rect">
            <a:avLst/>
          </a:prstGeom>
          <a:noFill/>
        </p:spPr>
        <p:txBody>
          <a:bodyPr wrap="none" rtlCol="0">
            <a:spAutoFit/>
          </a:bodyPr>
          <a:lstStyle/>
          <a:p>
            <a:r>
              <a:rPr lang="en-IN" b="1" dirty="0">
                <a:solidFill>
                  <a:srgbClr val="FF0000"/>
                </a:solidFill>
              </a:rPr>
              <a:t>Economic Performance by Season</a:t>
            </a:r>
          </a:p>
        </p:txBody>
      </p:sp>
      <p:pic>
        <p:nvPicPr>
          <p:cNvPr id="12" name="Picture 11">
            <a:extLst>
              <a:ext uri="{FF2B5EF4-FFF2-40B4-BE49-F238E27FC236}">
                <a16:creationId xmlns:a16="http://schemas.microsoft.com/office/drawing/2014/main" id="{A3C166B3-8F62-9E38-6592-B2EFF236AB07}"/>
              </a:ext>
            </a:extLst>
          </p:cNvPr>
          <p:cNvPicPr>
            <a:picLocks noChangeAspect="1"/>
          </p:cNvPicPr>
          <p:nvPr/>
        </p:nvPicPr>
        <p:blipFill>
          <a:blip r:embed="rId3"/>
          <a:stretch>
            <a:fillRect/>
          </a:stretch>
        </p:blipFill>
        <p:spPr>
          <a:xfrm>
            <a:off x="423053" y="1397181"/>
            <a:ext cx="7390923" cy="2596955"/>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958246"/>
            <a:ext cx="5277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2000" b="1" dirty="0">
                <a:solidFill>
                  <a:srgbClr val="FF0000"/>
                </a:solidFill>
              </a:rPr>
              <a:t>Environmental Conditions by Season</a:t>
            </a:r>
            <a:endParaRPr lang="en-GB" sz="2000" b="1" dirty="0">
              <a:solidFill>
                <a:srgbClr val="FF0000"/>
              </a:solidFill>
            </a:endParaRPr>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5105109"/>
            <a:ext cx="7439689" cy="1366811"/>
          </a:xfrm>
        </p:spPr>
        <p:txBody>
          <a:bodyPr>
            <a:normAutofit/>
          </a:bodyPr>
          <a:lstStyle/>
          <a:p>
            <a:pPr algn="just"/>
            <a:r>
              <a:rPr lang="en-IN" sz="1800" dirty="0"/>
              <a:t>Kharif had the highest rainfall and soil moisture, while Zaid experienced the </a:t>
            </a:r>
            <a:r>
              <a:rPr lang="en-IN" sz="1800" b="1" dirty="0"/>
              <a:t>highest temperature</a:t>
            </a:r>
            <a:r>
              <a:rPr lang="en-IN" sz="1800" dirty="0"/>
              <a:t> and lowest rainfall and soil moisture.</a:t>
            </a:r>
          </a:p>
        </p:txBody>
      </p:sp>
      <p:sp>
        <p:nvSpPr>
          <p:cNvPr id="9" name="Title 3">
            <a:extLst>
              <a:ext uri="{FF2B5EF4-FFF2-40B4-BE49-F238E27FC236}">
                <a16:creationId xmlns:a16="http://schemas.microsoft.com/office/drawing/2014/main" id="{40C695C0-B86B-5D20-98D2-4D0131FC71E4}"/>
              </a:ext>
            </a:extLst>
          </p:cNvPr>
          <p:cNvSpPr>
            <a:spLocks noGrp="1"/>
          </p:cNvSpPr>
          <p:nvPr>
            <p:ph type="title"/>
          </p:nvPr>
        </p:nvSpPr>
        <p:spPr>
          <a:xfrm>
            <a:off x="682900" y="119108"/>
            <a:ext cx="2981643" cy="830997"/>
          </a:xfrm>
        </p:spPr>
        <p:txBody>
          <a:bodyPr>
            <a:normAutofit/>
          </a:bodyPr>
          <a:lstStyle/>
          <a:p>
            <a:r>
              <a:rPr lang="en-GB" dirty="0"/>
              <a:t>RESULTS </a:t>
            </a:r>
            <a:endParaRPr lang="en-IN" dirty="0"/>
          </a:p>
        </p:txBody>
      </p:sp>
      <p:pic>
        <p:nvPicPr>
          <p:cNvPr id="11" name="Picture 10">
            <a:extLst>
              <a:ext uri="{FF2B5EF4-FFF2-40B4-BE49-F238E27FC236}">
                <a16:creationId xmlns:a16="http://schemas.microsoft.com/office/drawing/2014/main" id="{DC47F3A1-E777-8F80-AA25-EE1328D227F2}"/>
              </a:ext>
            </a:extLst>
          </p:cNvPr>
          <p:cNvPicPr>
            <a:picLocks noChangeAspect="1"/>
          </p:cNvPicPr>
          <p:nvPr/>
        </p:nvPicPr>
        <p:blipFill>
          <a:blip r:embed="rId3"/>
          <a:stretch>
            <a:fillRect/>
          </a:stretch>
        </p:blipFill>
        <p:spPr>
          <a:xfrm>
            <a:off x="579085" y="1362469"/>
            <a:ext cx="8668432" cy="3554083"/>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6380451"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 Placeholder 10">
            <a:extLst>
              <a:ext uri="{FF2B5EF4-FFF2-40B4-BE49-F238E27FC236}">
                <a16:creationId xmlns:a16="http://schemas.microsoft.com/office/drawing/2014/main" id="{B3136898-4B03-1945-C239-4689D28D7E79}"/>
              </a:ext>
            </a:extLst>
          </p:cNvPr>
          <p:cNvSpPr>
            <a:spLocks noGrp="1"/>
          </p:cNvSpPr>
          <p:nvPr>
            <p:ph type="body" sz="quarter" idx="12"/>
          </p:nvPr>
        </p:nvSpPr>
        <p:spPr>
          <a:xfrm>
            <a:off x="626577" y="5077619"/>
            <a:ext cx="8190302" cy="1587342"/>
          </a:xfrm>
        </p:spPr>
        <p:txBody>
          <a:bodyPr>
            <a:normAutofit/>
          </a:bodyPr>
          <a:lstStyle/>
          <a:p>
            <a:pPr algn="just"/>
            <a:r>
              <a:rPr lang="en-IN" sz="1800" dirty="0"/>
              <a:t>Water usage showed a positive relationship with yield (</a:t>
            </a:r>
            <a:r>
              <a:rPr lang="en-IN" sz="1800" b="1" dirty="0"/>
              <a:t>r = 0.386</a:t>
            </a:r>
            <a:r>
              <a:rPr lang="en-IN" sz="1800" dirty="0"/>
              <a:t>). Yield and profit also showed a positive relationship, indicating better production generally supports higher profitability.</a:t>
            </a:r>
          </a:p>
        </p:txBody>
      </p:sp>
      <p:sp>
        <p:nvSpPr>
          <p:cNvPr id="12" name="TextBox 11">
            <a:extLst>
              <a:ext uri="{FF2B5EF4-FFF2-40B4-BE49-F238E27FC236}">
                <a16:creationId xmlns:a16="http://schemas.microsoft.com/office/drawing/2014/main" id="{40C9619A-E82E-3ADA-A777-F81A3F331E31}"/>
              </a:ext>
            </a:extLst>
          </p:cNvPr>
          <p:cNvSpPr txBox="1"/>
          <p:nvPr/>
        </p:nvSpPr>
        <p:spPr>
          <a:xfrm>
            <a:off x="675957" y="1090705"/>
            <a:ext cx="4142994" cy="369332"/>
          </a:xfrm>
          <a:prstGeom prst="rect">
            <a:avLst/>
          </a:prstGeom>
          <a:noFill/>
        </p:spPr>
        <p:txBody>
          <a:bodyPr wrap="none" rtlCol="0">
            <a:spAutoFit/>
          </a:bodyPr>
          <a:lstStyle/>
          <a:p>
            <a:r>
              <a:rPr lang="en-IN" b="1" dirty="0">
                <a:solidFill>
                  <a:srgbClr val="FF0000"/>
                </a:solidFill>
              </a:rPr>
              <a:t>Relationships Between Key Variables</a:t>
            </a:r>
          </a:p>
        </p:txBody>
      </p:sp>
      <p:pic>
        <p:nvPicPr>
          <p:cNvPr id="13" name="Picture 12">
            <a:extLst>
              <a:ext uri="{FF2B5EF4-FFF2-40B4-BE49-F238E27FC236}">
                <a16:creationId xmlns:a16="http://schemas.microsoft.com/office/drawing/2014/main" id="{CF33ED72-C6F5-D8E1-1536-88F1D8CB5D6F}"/>
              </a:ext>
            </a:extLst>
          </p:cNvPr>
          <p:cNvPicPr>
            <a:picLocks noChangeAspect="1"/>
          </p:cNvPicPr>
          <p:nvPr/>
        </p:nvPicPr>
        <p:blipFill>
          <a:blip r:embed="rId3"/>
          <a:stretch>
            <a:fillRect/>
          </a:stretch>
        </p:blipFill>
        <p:spPr>
          <a:xfrm>
            <a:off x="626577" y="1579110"/>
            <a:ext cx="8021312" cy="3337442"/>
          </a:xfrm>
          <a:prstGeom prst="rect">
            <a:avLst/>
          </a:prstGeom>
        </p:spPr>
      </p:pic>
    </p:spTree>
    <p:extLst>
      <p:ext uri="{BB962C8B-B14F-4D97-AF65-F5344CB8AC3E}">
        <p14:creationId xmlns:p14="http://schemas.microsoft.com/office/powerpoint/2010/main" val="1086225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6" y="5061860"/>
            <a:ext cx="8304141" cy="1528721"/>
          </a:xfrm>
        </p:spPr>
        <p:txBody>
          <a:bodyPr>
            <a:noAutofit/>
          </a:bodyPr>
          <a:lstStyle/>
          <a:p>
            <a:pPr algn="just"/>
            <a:r>
              <a:rPr lang="en-IN" sz="1800" b="1" dirty="0"/>
              <a:t>Sugarcane</a:t>
            </a:r>
            <a:r>
              <a:rPr lang="en-IN" sz="1800" dirty="0"/>
              <a:t> achieved the highest average yield across all three seasons and showed the largest seasonal variation in yield.</a:t>
            </a:r>
          </a:p>
          <a:p>
            <a:pPr lvl="0"/>
            <a:r>
              <a:rPr lang="en-IN" sz="1800" dirty="0"/>
              <a:t>For most crops, the yield follows the pattern Kharif &gt; Rabi &gt; Zaid. </a:t>
            </a:r>
          </a:p>
          <a:p>
            <a:pPr lvl="0"/>
            <a:r>
              <a:rPr lang="en-IN" sz="1800" dirty="0"/>
              <a:t>Zaid has the lowest yield for every crop.</a:t>
            </a:r>
          </a:p>
        </p:txBody>
      </p:sp>
      <p:sp>
        <p:nvSpPr>
          <p:cNvPr id="3" name="TextBox 2">
            <a:extLst>
              <a:ext uri="{FF2B5EF4-FFF2-40B4-BE49-F238E27FC236}">
                <a16:creationId xmlns:a16="http://schemas.microsoft.com/office/drawing/2014/main" id="{FF9E8FA9-448F-C482-4DA8-F05C42541A1E}"/>
              </a:ext>
            </a:extLst>
          </p:cNvPr>
          <p:cNvSpPr txBox="1"/>
          <p:nvPr/>
        </p:nvSpPr>
        <p:spPr>
          <a:xfrm>
            <a:off x="675957" y="1201586"/>
            <a:ext cx="3798284" cy="369332"/>
          </a:xfrm>
          <a:prstGeom prst="rect">
            <a:avLst/>
          </a:prstGeom>
          <a:noFill/>
        </p:spPr>
        <p:txBody>
          <a:bodyPr wrap="none" rtlCol="0">
            <a:spAutoFit/>
          </a:bodyPr>
          <a:lstStyle/>
          <a:p>
            <a:r>
              <a:rPr lang="en-IN" b="1" dirty="0">
                <a:solidFill>
                  <a:srgbClr val="FF0000"/>
                </a:solidFill>
              </a:rPr>
              <a:t>Crop Performance Across Seasons</a:t>
            </a:r>
          </a:p>
        </p:txBody>
      </p:sp>
      <p:pic>
        <p:nvPicPr>
          <p:cNvPr id="6" name="Picture 5">
            <a:extLst>
              <a:ext uri="{FF2B5EF4-FFF2-40B4-BE49-F238E27FC236}">
                <a16:creationId xmlns:a16="http://schemas.microsoft.com/office/drawing/2014/main" id="{520AC77F-262C-104E-DCC9-CB7A022EC9E4}"/>
              </a:ext>
            </a:extLst>
          </p:cNvPr>
          <p:cNvPicPr>
            <a:picLocks noChangeAspect="1"/>
          </p:cNvPicPr>
          <p:nvPr/>
        </p:nvPicPr>
        <p:blipFill>
          <a:blip r:embed="rId3"/>
          <a:stretch>
            <a:fillRect/>
          </a:stretch>
        </p:blipFill>
        <p:spPr>
          <a:xfrm>
            <a:off x="0" y="1673561"/>
            <a:ext cx="9376913" cy="3142362"/>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A0D16-B4B3-D336-493C-058FFDF0C6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2B85B91-EA7D-FC9B-9687-CB40B5B4355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4AF6147-7F9B-19E1-9A95-0E9B44BB9BF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4A6D5F1-3AB1-EB8E-A2C6-607A29791A6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8E736E2-B2FC-5F51-8B1C-24FEBD86292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9D7D305-F502-AB05-90CF-5A752310D2AD}"/>
              </a:ext>
            </a:extLst>
          </p:cNvPr>
          <p:cNvSpPr>
            <a:spLocks noGrp="1"/>
          </p:cNvSpPr>
          <p:nvPr>
            <p:ph type="body" sz="quarter" idx="12"/>
          </p:nvPr>
        </p:nvSpPr>
        <p:spPr>
          <a:xfrm>
            <a:off x="375318" y="4853362"/>
            <a:ext cx="8771260" cy="1993049"/>
          </a:xfrm>
        </p:spPr>
        <p:txBody>
          <a:bodyPr>
            <a:noAutofit/>
          </a:bodyPr>
          <a:lstStyle/>
          <a:p>
            <a:pPr lvl="0"/>
            <a:r>
              <a:rPr lang="en-IN" sz="1800" b="1" dirty="0"/>
              <a:t>Punjab</a:t>
            </a:r>
            <a:r>
              <a:rPr lang="en-IN" sz="1800" dirty="0"/>
              <a:t> records the highest Rabi yield (</a:t>
            </a:r>
            <a:r>
              <a:rPr lang="en-IN" sz="1800" b="1" dirty="0"/>
              <a:t>8.61 t/ha</a:t>
            </a:r>
            <a:r>
              <a:rPr lang="en-IN" sz="1800" dirty="0"/>
              <a:t>), while </a:t>
            </a:r>
            <a:r>
              <a:rPr lang="en-IN" sz="1800" b="1" dirty="0"/>
              <a:t>Karnataka</a:t>
            </a:r>
            <a:r>
              <a:rPr lang="en-IN" sz="1800" dirty="0"/>
              <a:t> has the highest Zaid yield (</a:t>
            </a:r>
            <a:r>
              <a:rPr lang="en-IN" sz="1800" b="1" dirty="0"/>
              <a:t>6.62 t/ha</a:t>
            </a:r>
            <a:r>
              <a:rPr lang="en-IN" sz="1800" dirty="0"/>
              <a:t>). </a:t>
            </a:r>
          </a:p>
          <a:p>
            <a:pPr lvl="0"/>
            <a:r>
              <a:rPr lang="en-IN" sz="1800" b="1" dirty="0"/>
              <a:t>Kharif performs best in most states</a:t>
            </a:r>
            <a:r>
              <a:rPr lang="en-IN" sz="1800" dirty="0"/>
              <a:t>, but the best-performing season varies across regions, showing clear state level differences.</a:t>
            </a:r>
          </a:p>
        </p:txBody>
      </p:sp>
      <p:sp>
        <p:nvSpPr>
          <p:cNvPr id="2" name="TextBox 1">
            <a:extLst>
              <a:ext uri="{FF2B5EF4-FFF2-40B4-BE49-F238E27FC236}">
                <a16:creationId xmlns:a16="http://schemas.microsoft.com/office/drawing/2014/main" id="{536E4069-25B2-2589-E9D7-8FD6FA4A428B}"/>
              </a:ext>
            </a:extLst>
          </p:cNvPr>
          <p:cNvSpPr txBox="1"/>
          <p:nvPr/>
        </p:nvSpPr>
        <p:spPr>
          <a:xfrm>
            <a:off x="675957" y="1201586"/>
            <a:ext cx="3851182" cy="369332"/>
          </a:xfrm>
          <a:prstGeom prst="rect">
            <a:avLst/>
          </a:prstGeom>
          <a:noFill/>
        </p:spPr>
        <p:txBody>
          <a:bodyPr wrap="none" rtlCol="0">
            <a:spAutoFit/>
          </a:bodyPr>
          <a:lstStyle/>
          <a:p>
            <a:r>
              <a:rPr lang="en-IN" b="1" dirty="0">
                <a:solidFill>
                  <a:srgbClr val="FF0000"/>
                </a:solidFill>
              </a:rPr>
              <a:t>State Performance Across Seasons</a:t>
            </a:r>
          </a:p>
        </p:txBody>
      </p:sp>
      <p:pic>
        <p:nvPicPr>
          <p:cNvPr id="3" name="Picture 2">
            <a:extLst>
              <a:ext uri="{FF2B5EF4-FFF2-40B4-BE49-F238E27FC236}">
                <a16:creationId xmlns:a16="http://schemas.microsoft.com/office/drawing/2014/main" id="{E4D32ED4-EFAA-528F-2F0A-DFEDCE74BEA9}"/>
              </a:ext>
            </a:extLst>
          </p:cNvPr>
          <p:cNvPicPr>
            <a:picLocks noChangeAspect="1"/>
          </p:cNvPicPr>
          <p:nvPr/>
        </p:nvPicPr>
        <p:blipFill>
          <a:blip r:embed="rId3"/>
          <a:stretch>
            <a:fillRect/>
          </a:stretch>
        </p:blipFill>
        <p:spPr>
          <a:xfrm>
            <a:off x="112143" y="1570918"/>
            <a:ext cx="9297610" cy="2986897"/>
          </a:xfrm>
          <a:prstGeom prst="rect">
            <a:avLst/>
          </a:prstGeom>
        </p:spPr>
      </p:pic>
    </p:spTree>
    <p:extLst>
      <p:ext uri="{BB962C8B-B14F-4D97-AF65-F5344CB8AC3E}">
        <p14:creationId xmlns:p14="http://schemas.microsoft.com/office/powerpoint/2010/main" val="3130830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96DA160-5CFC-B436-A128-0B3C4A6E5DAA}"/>
              </a:ext>
            </a:extLst>
          </p:cNvPr>
          <p:cNvSpPr txBox="1"/>
          <p:nvPr/>
        </p:nvSpPr>
        <p:spPr>
          <a:xfrm>
            <a:off x="396815" y="2209512"/>
            <a:ext cx="8712680" cy="3693319"/>
          </a:xfrm>
          <a:prstGeom prst="rect">
            <a:avLst/>
          </a:prstGeom>
          <a:noFill/>
        </p:spPr>
        <p:txBody>
          <a:bodyPr wrap="square" rtlCol="0">
            <a:spAutoFit/>
          </a:bodyPr>
          <a:lstStyle/>
          <a:p>
            <a:pPr marL="285750" lvl="0" indent="-285750" algn="just">
              <a:buClr>
                <a:schemeClr val="accent4"/>
              </a:buClr>
              <a:buFont typeface="Wingdings" panose="05000000000000000000" pitchFamily="2" charset="2"/>
              <a:buChar char="§"/>
            </a:pPr>
            <a:r>
              <a:rPr lang="en-IN" b="1" dirty="0"/>
              <a:t>Multi-year data:</a:t>
            </a:r>
            <a:r>
              <a:rPr lang="en-IN" dirty="0"/>
              <a:t> </a:t>
            </a:r>
            <a:r>
              <a:rPr lang="en-IN" dirty="0" err="1"/>
              <a:t>Analyze</a:t>
            </a:r>
            <a:r>
              <a:rPr lang="en-IN" dirty="0"/>
              <a:t> multiple years to identify consistent seasonal trends. </a:t>
            </a:r>
          </a:p>
          <a:p>
            <a:pPr marL="285750" lvl="0" indent="-285750" algn="just">
              <a:buClr>
                <a:schemeClr val="accent4"/>
              </a:buClr>
              <a:buFont typeface="Wingdings" panose="05000000000000000000" pitchFamily="2" charset="2"/>
              <a:buChar char="§"/>
            </a:pPr>
            <a:endParaRPr lang="en-IN" dirty="0"/>
          </a:p>
          <a:p>
            <a:pPr marL="285750" lvl="0" indent="-285750" algn="just">
              <a:buClr>
                <a:schemeClr val="accent4"/>
              </a:buClr>
              <a:buFont typeface="Wingdings" panose="05000000000000000000" pitchFamily="2" charset="2"/>
              <a:buChar char="§"/>
            </a:pPr>
            <a:r>
              <a:rPr lang="en-IN" b="1" dirty="0"/>
              <a:t>Predictive models:</a:t>
            </a:r>
            <a:r>
              <a:rPr lang="en-IN" dirty="0"/>
              <a:t> Use Machine Learning to forecast yield and profit by season. </a:t>
            </a:r>
          </a:p>
          <a:p>
            <a:pPr marL="285750" lvl="0" indent="-285750" algn="just">
              <a:buClr>
                <a:schemeClr val="accent4"/>
              </a:buClr>
              <a:buFont typeface="Wingdings" panose="05000000000000000000" pitchFamily="2" charset="2"/>
              <a:buChar char="§"/>
            </a:pPr>
            <a:endParaRPr lang="en-IN" dirty="0"/>
          </a:p>
          <a:p>
            <a:pPr marL="285750" lvl="0" indent="-285750" algn="just">
              <a:buClr>
                <a:schemeClr val="accent4"/>
              </a:buClr>
              <a:buFont typeface="Wingdings" panose="05000000000000000000" pitchFamily="2" charset="2"/>
              <a:buChar char="§"/>
            </a:pPr>
            <a:r>
              <a:rPr lang="en-IN" b="1" dirty="0"/>
              <a:t>Interactive dashboard:</a:t>
            </a:r>
            <a:r>
              <a:rPr lang="en-IN" dirty="0"/>
              <a:t> Develop a dashboard for real time seasonal performance monitoring. </a:t>
            </a:r>
          </a:p>
          <a:p>
            <a:pPr marL="285750" lvl="0" indent="-285750" algn="just">
              <a:buClr>
                <a:schemeClr val="accent4"/>
              </a:buClr>
              <a:buFont typeface="Wingdings" panose="05000000000000000000" pitchFamily="2" charset="2"/>
              <a:buChar char="§"/>
            </a:pPr>
            <a:endParaRPr lang="en-IN" dirty="0"/>
          </a:p>
          <a:p>
            <a:pPr marL="285750" lvl="0" indent="-285750" algn="just">
              <a:buClr>
                <a:schemeClr val="accent4"/>
              </a:buClr>
              <a:buFont typeface="Wingdings" panose="05000000000000000000" pitchFamily="2" charset="2"/>
              <a:buChar char="§"/>
            </a:pPr>
            <a:r>
              <a:rPr lang="en-IN" b="1" dirty="0"/>
              <a:t>Regional analysis:</a:t>
            </a:r>
            <a:r>
              <a:rPr lang="en-IN" dirty="0"/>
              <a:t> Extend analysis to district level climate and soil conditions. </a:t>
            </a:r>
          </a:p>
          <a:p>
            <a:pPr marL="285750" lvl="0" indent="-285750" algn="just">
              <a:buClr>
                <a:schemeClr val="accent4"/>
              </a:buClr>
              <a:buFont typeface="Wingdings" panose="05000000000000000000" pitchFamily="2" charset="2"/>
              <a:buChar char="§"/>
            </a:pPr>
            <a:endParaRPr lang="en-IN" dirty="0"/>
          </a:p>
          <a:p>
            <a:pPr marL="285750" lvl="0" indent="-285750" algn="just">
              <a:buClr>
                <a:schemeClr val="accent4"/>
              </a:buClr>
              <a:buFont typeface="Wingdings" panose="05000000000000000000" pitchFamily="2" charset="2"/>
              <a:buChar char="§"/>
            </a:pPr>
            <a:r>
              <a:rPr lang="en-IN" b="1" dirty="0"/>
              <a:t>Market forecasting:</a:t>
            </a:r>
            <a:r>
              <a:rPr lang="en-IN" dirty="0"/>
              <a:t> Integrate crop prices with seasonal production to support better selling decisions.</a:t>
            </a:r>
          </a:p>
          <a:p>
            <a:pPr marL="285750" indent="-285750" algn="just">
              <a:buClr>
                <a:schemeClr val="accent4"/>
              </a:buClr>
              <a:buFont typeface="Wingdings" panose="05000000000000000000" pitchFamily="2" charset="2"/>
              <a:buChar char="§"/>
            </a:pPr>
            <a:endParaRPr lang="en-IN" dirty="0"/>
          </a:p>
        </p:txBody>
      </p:sp>
    </p:spTree>
    <p:extLst>
      <p:ext uri="{BB962C8B-B14F-4D97-AF65-F5344CB8AC3E}">
        <p14:creationId xmlns:p14="http://schemas.microsoft.com/office/powerpoint/2010/main" val="776828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88B942B-D7D9-60F4-0D90-D17674EFE74D}"/>
              </a:ext>
            </a:extLst>
          </p:cNvPr>
          <p:cNvSpPr txBox="1"/>
          <p:nvPr/>
        </p:nvSpPr>
        <p:spPr>
          <a:xfrm>
            <a:off x="483079" y="2981835"/>
            <a:ext cx="9279976" cy="369332"/>
          </a:xfrm>
          <a:prstGeom prst="rect">
            <a:avLst/>
          </a:prstGeom>
          <a:noFill/>
        </p:spPr>
        <p:txBody>
          <a:bodyPr wrap="none" rtlCol="0">
            <a:spAutoFit/>
          </a:bodyPr>
          <a:lstStyle/>
          <a:p>
            <a:r>
              <a:rPr lang="en-IN" dirty="0">
                <a:hlinkClick r:id="rId3"/>
              </a:rPr>
              <a:t>https://github.com/Harshit-Vaishnav14/Seasonal-Agriculture-Performance-Analysis-.git</a:t>
            </a:r>
            <a:endParaRPr lang="en-IN" dirty="0"/>
          </a:p>
        </p:txBody>
      </p:sp>
    </p:spTree>
    <p:extLst>
      <p:ext uri="{BB962C8B-B14F-4D97-AF65-F5344CB8AC3E}">
        <p14:creationId xmlns:p14="http://schemas.microsoft.com/office/powerpoint/2010/main" val="3863610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51A69E33-8EDE-9985-1132-38A8A544734E}"/>
              </a:ext>
            </a:extLst>
          </p:cNvPr>
          <p:cNvPicPr>
            <a:picLocks noChangeAspect="1"/>
          </p:cNvPicPr>
          <p:nvPr/>
        </p:nvPicPr>
        <p:blipFill>
          <a:blip r:embed="rId3"/>
          <a:stretch>
            <a:fillRect/>
          </a:stretch>
        </p:blipFill>
        <p:spPr>
          <a:xfrm>
            <a:off x="1075058" y="1514114"/>
            <a:ext cx="6614197" cy="4662950"/>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279968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719</TotalTime>
  <Words>709</Words>
  <Application>Microsoft Office PowerPoint</Application>
  <PresentationFormat>Widescreen</PresentationFormat>
  <Paragraphs>66</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Harshit Vaishnav</cp:lastModifiedBy>
  <cp:revision>105</cp:revision>
  <dcterms:created xsi:type="dcterms:W3CDTF">2021-07-11T13:13:15Z</dcterms:created>
  <dcterms:modified xsi:type="dcterms:W3CDTF">2026-09-04T19:04:06Z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